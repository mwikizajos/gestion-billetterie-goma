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B2AA"/>
    <a:srgbClr val="006666"/>
    <a:srgbClr val="666666"/>
    <a:srgbClr val="F4F4F4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11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rallélogramme 15">
            <a:extLst>
              <a:ext uri="{FF2B5EF4-FFF2-40B4-BE49-F238E27FC236}">
                <a16:creationId xmlns:a16="http://schemas.microsoft.com/office/drawing/2014/main" id="{FB66078B-3F33-DF59-7C30-43FF40275B66}"/>
              </a:ext>
            </a:extLst>
          </p:cNvPr>
          <p:cNvSpPr/>
          <p:nvPr/>
        </p:nvSpPr>
        <p:spPr>
          <a:xfrm rot="398528" flipV="1">
            <a:off x="591470" y="511092"/>
            <a:ext cx="14646442" cy="7096504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4" name="Parallélogramme 13">
            <a:extLst>
              <a:ext uri="{FF2B5EF4-FFF2-40B4-BE49-F238E27FC236}">
                <a16:creationId xmlns:a16="http://schemas.microsoft.com/office/drawing/2014/main" id="{BEF0BDB7-F3C6-E8BC-FDED-2623DCABA9B4}"/>
              </a:ext>
            </a:extLst>
          </p:cNvPr>
          <p:cNvSpPr/>
          <p:nvPr/>
        </p:nvSpPr>
        <p:spPr>
          <a:xfrm rot="5400000" flipV="1">
            <a:off x="1913976" y="-753025"/>
            <a:ext cx="4771634" cy="359241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ABB14717-3E2D-38DB-FAD8-5ED82108C42E}"/>
              </a:ext>
            </a:extLst>
          </p:cNvPr>
          <p:cNvSpPr/>
          <p:nvPr/>
        </p:nvSpPr>
        <p:spPr>
          <a:xfrm flipV="1">
            <a:off x="1652337" y="705850"/>
            <a:ext cx="13170568" cy="6304547"/>
          </a:xfrm>
          <a:prstGeom prst="parallelogram">
            <a:avLst/>
          </a:prstGeom>
          <a:gradFill flip="none" rotWithShape="1">
            <a:gsLst>
              <a:gs pos="54000">
                <a:srgbClr val="118F8B"/>
              </a:gs>
              <a:gs pos="0">
                <a:srgbClr val="006666"/>
              </a:gs>
              <a:gs pos="100000">
                <a:srgbClr val="20B2AA"/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D8C6F30-9597-30FD-FF92-411B1538AA90}"/>
              </a:ext>
            </a:extLst>
          </p:cNvPr>
          <p:cNvSpPr txBox="1"/>
          <p:nvPr/>
        </p:nvSpPr>
        <p:spPr>
          <a:xfrm>
            <a:off x="4604084" y="1843950"/>
            <a:ext cx="59355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Montserrat" pitchFamily="2" charset="0"/>
              </a:rPr>
              <a:t>Conception d’une application de vente de billets de match de Football en Ville de Goma</a:t>
            </a:r>
            <a:endParaRPr lang="fr-CD" sz="4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56CFB78-B845-81C9-4CEE-E1DA10086E69}"/>
              </a:ext>
            </a:extLst>
          </p:cNvPr>
          <p:cNvSpPr txBox="1"/>
          <p:nvPr/>
        </p:nvSpPr>
        <p:spPr>
          <a:xfrm>
            <a:off x="2807368" y="-2037"/>
            <a:ext cx="3288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  <a:latin typeface="Montserrat" pitchFamily="2" charset="0"/>
              </a:rPr>
              <a:t>GROUPE 13</a:t>
            </a:r>
            <a:endParaRPr lang="fr-CD" sz="4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7C8E9C8A-C787-0DF0-E4CD-2ABE06B6DA85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98336E37-88FA-3F35-23B0-1E145DD37660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8A5641FA-DDBE-E61F-8683-3E00303B1C79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11D25-9707-C4FD-BB25-DB2209DA133C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B8A745-CD4C-661D-C93C-F1337F9CB7BD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60915A57-CC83-DECC-B303-F1217EEE7F65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054DAC-0055-984E-BB0C-1C00AB507261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827CADA-22CD-3E66-BB29-7BD235A52E15}"/>
              </a:ext>
            </a:extLst>
          </p:cNvPr>
          <p:cNvSpPr txBox="1"/>
          <p:nvPr/>
        </p:nvSpPr>
        <p:spPr>
          <a:xfrm>
            <a:off x="5192619" y="230794"/>
            <a:ext cx="6112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itchFamily="2" charset="0"/>
              </a:rPr>
              <a:t>Les Défis de la Billetterie Physique</a:t>
            </a:r>
            <a:endParaRPr lang="fr-CD" sz="24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9BE3DB-BD98-8CFD-51DC-EEC170AB8220}"/>
              </a:ext>
            </a:extLst>
          </p:cNvPr>
          <p:cNvSpPr txBox="1"/>
          <p:nvPr/>
        </p:nvSpPr>
        <p:spPr>
          <a:xfrm>
            <a:off x="474443" y="1459832"/>
            <a:ext cx="3586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Insécurité et Fraude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ctr"/>
            <a:r>
              <a:rPr lang="fr-FR" sz="2000" dirty="0">
                <a:latin typeface="Montserrat" pitchFamily="2" charset="0"/>
              </a:rPr>
              <a:t>Difficulté de vérifier l’authenticité des billets papiers (doublons , Faux billets)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343B0EA-FF88-BA97-D6FC-3A994C79B78B}"/>
              </a:ext>
            </a:extLst>
          </p:cNvPr>
          <p:cNvSpPr txBox="1"/>
          <p:nvPr/>
        </p:nvSpPr>
        <p:spPr>
          <a:xfrm>
            <a:off x="4130734" y="3176954"/>
            <a:ext cx="35869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Perte de Temps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ctr"/>
            <a:r>
              <a:rPr lang="fr-FR" sz="2000" dirty="0">
                <a:latin typeface="Montserrat" pitchFamily="2" charset="0"/>
              </a:rPr>
              <a:t>Files d’attente interminables aux guichets le jour du match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B5F66CA-467D-B376-8DF8-04DC3A3FAC9D}"/>
              </a:ext>
            </a:extLst>
          </p:cNvPr>
          <p:cNvSpPr txBox="1"/>
          <p:nvPr/>
        </p:nvSpPr>
        <p:spPr>
          <a:xfrm>
            <a:off x="8161367" y="1557241"/>
            <a:ext cx="35869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INNACCESSIBILITÉ</a:t>
            </a:r>
          </a:p>
          <a:p>
            <a:pPr algn="ctr"/>
            <a:endParaRPr lang="fr-FR" sz="2000" dirty="0">
              <a:latin typeface="Montserrat" pitchFamily="2" charset="0"/>
              <a:ea typeface="Roboto" panose="02000000000000000000" pitchFamily="2" charset="0"/>
            </a:endParaRPr>
          </a:p>
          <a:p>
            <a:pPr algn="ctr"/>
            <a:r>
              <a:rPr lang="fr-FR" sz="2000" dirty="0">
                <a:latin typeface="Montserrat" pitchFamily="2" charset="0"/>
                <a:ea typeface="Roboto" panose="02000000000000000000" pitchFamily="2" charset="0"/>
              </a:rPr>
              <a:t>Obligation pour le supporter de se déplacer physiquement bien avant le match pour obtenir un billet</a:t>
            </a:r>
            <a:endParaRPr lang="fr-CD" sz="2000" dirty="0">
              <a:latin typeface="Montserrat" pitchFamily="2" charset="0"/>
              <a:ea typeface="Roboto" panose="020000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DA43BC2-6288-75B8-1209-E07493783B4E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5FA7-B29A-C1FF-0456-466DA360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7A5572A8-7FD7-A6C6-20F3-0D0359DB6E9E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8F4AB26-3467-BC76-FD32-E62C1A88806D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9E5CCB97-6A58-6FB8-E7C8-37375EEF89CA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1D2FF-402A-D6C8-C907-07EA99D86588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2B756-ED12-A077-5A21-7D45BF14675F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124A8335-01CD-B5DA-5966-A06B76954D9A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2E7FA8-95A0-7C0D-4837-0C61A362198C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0D0165-DF8A-B9B5-248E-E375B24A1246}"/>
              </a:ext>
            </a:extLst>
          </p:cNvPr>
          <p:cNvSpPr txBox="1"/>
          <p:nvPr/>
        </p:nvSpPr>
        <p:spPr>
          <a:xfrm>
            <a:off x="5192619" y="230794"/>
            <a:ext cx="6112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itchFamily="2" charset="0"/>
              </a:rPr>
              <a:t>Solution Suggérer </a:t>
            </a:r>
            <a:endParaRPr lang="fr-CD" sz="2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497BA6D-EB68-5A0E-C412-EA64D7DDE90B}"/>
              </a:ext>
            </a:extLst>
          </p:cNvPr>
          <p:cNvSpPr txBox="1"/>
          <p:nvPr/>
        </p:nvSpPr>
        <p:spPr>
          <a:xfrm>
            <a:off x="474442" y="1459832"/>
            <a:ext cx="48996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Accessibilité (Anywhere , Anytime)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ctr"/>
            <a:r>
              <a:rPr lang="fr-FR" sz="2000" dirty="0">
                <a:latin typeface="Montserrat" pitchFamily="2" charset="0"/>
              </a:rPr>
              <a:t>Permettre à chaque supporter d’acheter son billet depuis sa maison via son téléphone 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A0F6118-5A19-33A3-E840-7C0539879ECD}"/>
              </a:ext>
            </a:extLst>
          </p:cNvPr>
          <p:cNvSpPr txBox="1"/>
          <p:nvPr/>
        </p:nvSpPr>
        <p:spPr>
          <a:xfrm>
            <a:off x="3811553" y="4076761"/>
            <a:ext cx="35869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Gestion Optimisée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ctr"/>
            <a:r>
              <a:rPr lang="fr-FR" sz="2000" dirty="0">
                <a:latin typeface="Montserrat" pitchFamily="2" charset="0"/>
              </a:rPr>
              <a:t>Automatiser la distinction entre les catégories de places  (VIP et Standard)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FB9CCFC-AB75-2E01-A57D-52826EAA71EE}"/>
              </a:ext>
            </a:extLst>
          </p:cNvPr>
          <p:cNvSpPr txBox="1"/>
          <p:nvPr/>
        </p:nvSpPr>
        <p:spPr>
          <a:xfrm>
            <a:off x="7684168" y="1557241"/>
            <a:ext cx="40641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Sécurisation et Fiabilité</a:t>
            </a:r>
          </a:p>
          <a:p>
            <a:pPr algn="ctr"/>
            <a:endParaRPr lang="fr-FR" sz="2000" dirty="0">
              <a:latin typeface="Montserrat" pitchFamily="2" charset="0"/>
              <a:ea typeface="Roboto" panose="02000000000000000000" pitchFamily="2" charset="0"/>
            </a:endParaRPr>
          </a:p>
          <a:p>
            <a:pPr algn="ctr"/>
            <a:r>
              <a:rPr lang="fr-FR" sz="2000" dirty="0">
                <a:latin typeface="Montserrat" pitchFamily="2" charset="0"/>
                <a:ea typeface="Roboto" panose="02000000000000000000" pitchFamily="2" charset="0"/>
              </a:rPr>
              <a:t>Garantir l’unicité de chaque titre d’accès grâce à la génération dynamique de code QR infalsifiable </a:t>
            </a:r>
            <a:endParaRPr lang="fr-CD" sz="2000" dirty="0">
              <a:latin typeface="Montserrat" pitchFamily="2" charset="0"/>
              <a:ea typeface="Roboto" panose="020000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8D91DB7-B0C2-0627-F902-DE594F4CFA56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D83901-B9D1-FDE0-7345-78B2427D7538}"/>
              </a:ext>
            </a:extLst>
          </p:cNvPr>
          <p:cNvSpPr txBox="1"/>
          <p:nvPr/>
        </p:nvSpPr>
        <p:spPr>
          <a:xfrm>
            <a:off x="117317" y="6419304"/>
            <a:ext cx="8560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Lier l’identité numérique de l’utilisateur à sa transaction financière pour une expériences fluide</a:t>
            </a:r>
            <a:endParaRPr lang="fr-CD" sz="1400" i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3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20511-17B5-7B3D-ED55-CF89CAEF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8D522763-00C1-604D-3DB2-4993612E0C63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C0ACF606-3C71-01C9-5223-B1A684970B31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488C346A-629F-8C93-F902-0C6CCD4A9AC7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B95B9-F0DD-8E35-F8E6-5781902B0E46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29D50-1DC9-82CB-EEB8-3463E682266F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17D916A0-52F5-12A0-8FCD-663CD4646024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1BA72-42F1-0E84-FEB9-CEF26BECF92A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6EF7CBD-61FC-9A0F-DB01-1B48992EFF47}"/>
              </a:ext>
            </a:extLst>
          </p:cNvPr>
          <p:cNvSpPr txBox="1"/>
          <p:nvPr/>
        </p:nvSpPr>
        <p:spPr>
          <a:xfrm>
            <a:off x="4263966" y="230794"/>
            <a:ext cx="7040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itchFamily="2" charset="0"/>
              </a:rPr>
              <a:t>Architecture Technique et Stack Logicielle</a:t>
            </a:r>
            <a:endParaRPr lang="fr-CD" sz="2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76BF554-8288-DAD1-AE37-EFC7161CF4BA}"/>
              </a:ext>
            </a:extLst>
          </p:cNvPr>
          <p:cNvSpPr txBox="1"/>
          <p:nvPr/>
        </p:nvSpPr>
        <p:spPr>
          <a:xfrm>
            <a:off x="665812" y="1484802"/>
            <a:ext cx="41296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Frontend (Interface Utilisateur)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b="1" dirty="0">
                <a:latin typeface="Montserrat" pitchFamily="2" charset="0"/>
              </a:rPr>
              <a:t>React.js:</a:t>
            </a:r>
            <a:r>
              <a:rPr lang="fr-FR" sz="2000" dirty="0">
                <a:latin typeface="Montserrat" pitchFamily="2" charset="0"/>
              </a:rPr>
              <a:t> Pour une meilleure iconographie moderne, une interface dynamique , rapide et réactive 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B54675E-4538-9DBF-81EB-66B7CD7662AF}"/>
              </a:ext>
            </a:extLst>
          </p:cNvPr>
          <p:cNvSpPr txBox="1"/>
          <p:nvPr/>
        </p:nvSpPr>
        <p:spPr>
          <a:xfrm>
            <a:off x="4197349" y="4120238"/>
            <a:ext cx="35869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Base de Données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ctr"/>
            <a:r>
              <a:rPr lang="fr-FR" sz="2000" dirty="0" err="1">
                <a:latin typeface="Montserrat" pitchFamily="2" charset="0"/>
              </a:rPr>
              <a:t>MySql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8964C0B-A31B-984C-A4E8-88D1458D3F6A}"/>
              </a:ext>
            </a:extLst>
          </p:cNvPr>
          <p:cNvSpPr txBox="1"/>
          <p:nvPr/>
        </p:nvSpPr>
        <p:spPr>
          <a:xfrm>
            <a:off x="7618689" y="1557241"/>
            <a:ext cx="41296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Backend (Logique Métier )</a:t>
            </a:r>
          </a:p>
          <a:p>
            <a:pPr algn="ctr"/>
            <a:endParaRPr lang="fr-FR" sz="2000" dirty="0">
              <a:latin typeface="Montserrat" pitchFamily="2" charset="0"/>
              <a:ea typeface="Roboto" panose="02000000000000000000" pitchFamily="2" charset="0"/>
            </a:endParaRPr>
          </a:p>
          <a:p>
            <a:pPr algn="just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Node.js &amp; Express: </a:t>
            </a:r>
            <a:r>
              <a:rPr lang="fr-FR" sz="2000" dirty="0">
                <a:latin typeface="Montserrat" pitchFamily="2" charset="0"/>
                <a:ea typeface="Roboto" panose="02000000000000000000" pitchFamily="2" charset="0"/>
              </a:rPr>
              <a:t>Gestion des routes API, de la sécurité et de la communication avec base de données</a:t>
            </a:r>
            <a:endParaRPr lang="fr-CD" sz="2000" dirty="0">
              <a:latin typeface="Montserrat" pitchFamily="2" charset="0"/>
              <a:ea typeface="Roboto" panose="020000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F93B0CC-F4F3-01BA-126A-4A6394467AAA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87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711F-5BFB-F630-4FD4-130D7B84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8E94D568-5FD3-D41C-DE84-2A4A383C2160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3A5D625C-3A80-FF8A-67BA-ACAC19087FBC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91ECAEF4-1A1E-2C84-0639-E91373DDC528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84837-E222-3CFC-69BE-6938228CDE21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B55D7-FAF7-5314-2CA9-16258FE5406A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A2EA6341-E8EE-2A65-1ADD-8EF28E61C22A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6A1885-9189-0729-A6E9-F33F1817271D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343F579-0AFF-8DEA-B8AF-402133BDABE2}"/>
              </a:ext>
            </a:extLst>
          </p:cNvPr>
          <p:cNvSpPr txBox="1"/>
          <p:nvPr/>
        </p:nvSpPr>
        <p:spPr>
          <a:xfrm>
            <a:off x="5192619" y="230794"/>
            <a:ext cx="6112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itchFamily="2" charset="0"/>
              </a:rPr>
              <a:t>Modélisation des données</a:t>
            </a:r>
            <a:endParaRPr lang="fr-CD" sz="2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787493-2701-E825-92A1-FCF280B3B871}"/>
              </a:ext>
            </a:extLst>
          </p:cNvPr>
          <p:cNvSpPr txBox="1"/>
          <p:nvPr/>
        </p:nvSpPr>
        <p:spPr>
          <a:xfrm>
            <a:off x="474442" y="1459832"/>
            <a:ext cx="48996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Gestion des Matchs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Tables équipe, stade, matchs , division et championnat (Pour une organisation Sportive)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C79D1C7-613A-9791-85AE-649F1D80B4E4}"/>
              </a:ext>
            </a:extLst>
          </p:cNvPr>
          <p:cNvSpPr txBox="1"/>
          <p:nvPr/>
        </p:nvSpPr>
        <p:spPr>
          <a:xfrm>
            <a:off x="7589469" y="3708587"/>
            <a:ext cx="35869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Gestion des Ventes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Tables Utilisateur , paiements et billet (Processus d’achat)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9CFA1C6-A025-A713-3F62-F2FCDDC4081A}"/>
              </a:ext>
            </a:extLst>
          </p:cNvPr>
          <p:cNvSpPr txBox="1"/>
          <p:nvPr/>
        </p:nvSpPr>
        <p:spPr>
          <a:xfrm>
            <a:off x="538369" y="3848825"/>
            <a:ext cx="40641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Gestion Commerciale</a:t>
            </a:r>
          </a:p>
          <a:p>
            <a:pPr algn="ctr"/>
            <a:endParaRPr lang="fr-FR" sz="2000" dirty="0">
              <a:latin typeface="Montserrat" pitchFamily="2" charset="0"/>
              <a:ea typeface="Roboto" panose="02000000000000000000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  <a:ea typeface="Roboto" panose="02000000000000000000" pitchFamily="2" charset="0"/>
              </a:rPr>
              <a:t>Table tarifs (lien entre un match et les prix Vip ou standard)</a:t>
            </a:r>
            <a:endParaRPr lang="fr-CD" sz="2000" dirty="0">
              <a:latin typeface="Montserrat" pitchFamily="2" charset="0"/>
              <a:ea typeface="Roboto" panose="020000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8FDA2AA-18EC-4C04-9333-07DD40C42F88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C819B70-0C01-08B8-ABEB-C24DBAE64CD8}"/>
              </a:ext>
            </a:extLst>
          </p:cNvPr>
          <p:cNvSpPr txBox="1"/>
          <p:nvPr/>
        </p:nvSpPr>
        <p:spPr>
          <a:xfrm>
            <a:off x="117317" y="6419304"/>
            <a:ext cx="8560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Une Architecture normalisée pour éviter la redondance et sécuriser chaque transaction</a:t>
            </a:r>
            <a:endParaRPr lang="fr-CD" sz="1400" i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8AFF7B-9F28-CAD3-3761-262081504288}"/>
              </a:ext>
            </a:extLst>
          </p:cNvPr>
          <p:cNvSpPr txBox="1"/>
          <p:nvPr/>
        </p:nvSpPr>
        <p:spPr>
          <a:xfrm>
            <a:off x="7589469" y="1398987"/>
            <a:ext cx="3586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Intégrité Référentielle 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Mise en place de Clés étrangères (</a:t>
            </a:r>
            <a:r>
              <a:rPr lang="fr-FR" sz="2000" dirty="0" err="1">
                <a:latin typeface="Montserrat" pitchFamily="2" charset="0"/>
              </a:rPr>
              <a:t>Foreign</a:t>
            </a:r>
            <a:r>
              <a:rPr lang="fr-FR" sz="2000" dirty="0">
                <a:latin typeface="Montserrat" pitchFamily="2" charset="0"/>
              </a:rPr>
              <a:t> Keys) pour Garantir la cohérence des données</a:t>
            </a:r>
            <a:endParaRPr lang="fr-CD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75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B8F34-A58E-2D09-931A-DAD76AA1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B93B2523-3296-E2A4-978D-416E0634C8F7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B2E2FD71-87C2-97C8-794D-D996D9A35ECB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082BC1CD-A3CB-FCD2-3284-D2391566DF60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EFEF5-7ABE-DFB2-0004-C867109D32D1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594249-F45F-0364-9CB8-AAD0515591FF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40A88B93-01CF-CB9D-0E85-2DFB9107FE73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3832A-EBDC-821F-8EC0-9F8F25573C2E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68388E7-21BD-8189-7316-060E0A1219D5}"/>
              </a:ext>
            </a:extLst>
          </p:cNvPr>
          <p:cNvSpPr txBox="1"/>
          <p:nvPr/>
        </p:nvSpPr>
        <p:spPr>
          <a:xfrm>
            <a:off x="4951987" y="133253"/>
            <a:ext cx="6112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itchFamily="2" charset="0"/>
              </a:rPr>
              <a:t>Expérience Utilisateur : Du choix à l’achat</a:t>
            </a:r>
            <a:endParaRPr lang="fr-CD" sz="2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BCFE932-A263-FE5B-E986-190C992DB6DE}"/>
              </a:ext>
            </a:extLst>
          </p:cNvPr>
          <p:cNvSpPr txBox="1"/>
          <p:nvPr/>
        </p:nvSpPr>
        <p:spPr>
          <a:xfrm>
            <a:off x="397884" y="4205852"/>
            <a:ext cx="48996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Consultation en temps Réel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Affichage dynamique des rencontres, filtrées par stade et championnat.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798B282-9900-79C3-C438-1AF21A650FA7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6A580BC-CCEF-3B3E-2004-7851F6ACB7DD}"/>
              </a:ext>
            </a:extLst>
          </p:cNvPr>
          <p:cNvSpPr txBox="1"/>
          <p:nvPr/>
        </p:nvSpPr>
        <p:spPr>
          <a:xfrm>
            <a:off x="117317" y="6419304"/>
            <a:ext cx="8560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Une interface pensée pour la rapidité: acheter son billet de 60Secondes</a:t>
            </a:r>
            <a:endParaRPr lang="fr-CD" sz="1400" i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11D36DE-BB1C-3E49-D379-31F90212D48D}"/>
              </a:ext>
            </a:extLst>
          </p:cNvPr>
          <p:cNvSpPr txBox="1"/>
          <p:nvPr/>
        </p:nvSpPr>
        <p:spPr>
          <a:xfrm>
            <a:off x="7765932" y="3890098"/>
            <a:ext cx="3586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Flexibilité des tarifs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Sélection intuitive entre les places VIP et Standard avec mise à jour automatiques du prix </a:t>
            </a:r>
            <a:endParaRPr lang="fr-CD" sz="2000" dirty="0">
              <a:latin typeface="Montserrat" pitchFamily="2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38B3B2E-634E-3E6D-3F7B-F0FD6E9B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07" r="3264" b="39414"/>
          <a:stretch>
            <a:fillRect/>
          </a:stretch>
        </p:blipFill>
        <p:spPr>
          <a:xfrm>
            <a:off x="1" y="939300"/>
            <a:ext cx="6673516" cy="287309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2B68711-BE2C-20A5-5F60-82957A25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79" r="39818" b="36367"/>
          <a:stretch>
            <a:fillRect/>
          </a:stretch>
        </p:blipFill>
        <p:spPr>
          <a:xfrm>
            <a:off x="6775691" y="1002727"/>
            <a:ext cx="5286396" cy="274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6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65FC-E666-62EB-89A2-8A5DA92E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EECC9151-0DDB-E016-9D1C-1DB3BCB4BE1F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148264CD-A73B-6501-C666-0E6BF278200F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157C75BA-C0AD-65F4-CE02-88647C4C6ED7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52E633-74DE-46BA-F0A0-649BF10B10B9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A6F37-F6DF-B3FD-7E1F-46EDD41310A4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6026F25C-75C4-A01A-3209-BFE13E66E044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19E47D-8536-0BB3-4F38-CCB1D38D6B38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9A6165-C65E-3252-EFB2-C7D7C2157E3F}"/>
              </a:ext>
            </a:extLst>
          </p:cNvPr>
          <p:cNvSpPr txBox="1"/>
          <p:nvPr/>
        </p:nvSpPr>
        <p:spPr>
          <a:xfrm>
            <a:off x="5192619" y="230794"/>
            <a:ext cx="6112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itchFamily="2" charset="0"/>
              </a:rPr>
              <a:t>Paiement et Sécurisation des Accès</a:t>
            </a:r>
            <a:endParaRPr lang="fr-CD" sz="2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2B089DF-2EB5-39DC-63A5-72D65BCA2A35}"/>
              </a:ext>
            </a:extLst>
          </p:cNvPr>
          <p:cNvSpPr txBox="1"/>
          <p:nvPr/>
        </p:nvSpPr>
        <p:spPr>
          <a:xfrm>
            <a:off x="848787" y="4314885"/>
            <a:ext cx="48996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Génération Dynamique de Billets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Création instantanée d’un billet unique en base de données dès confirmation du Paiement 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DE00BD-1565-3EF1-3474-834E154CA0B3}"/>
              </a:ext>
            </a:extLst>
          </p:cNvPr>
          <p:cNvSpPr txBox="1"/>
          <p:nvPr/>
        </p:nvSpPr>
        <p:spPr>
          <a:xfrm>
            <a:off x="7589469" y="3708587"/>
            <a:ext cx="35869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Lutte contre la fraude 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Un billet Scanné est marqué comme « Utilisé » dans la table billet, empêchant toute réutilisation 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17C3204-4658-3A6E-45C9-0CAB6C9D51B3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D195C1F-917F-2591-7BFC-410A77289F86}"/>
              </a:ext>
            </a:extLst>
          </p:cNvPr>
          <p:cNvSpPr txBox="1"/>
          <p:nvPr/>
        </p:nvSpPr>
        <p:spPr>
          <a:xfrm>
            <a:off x="117317" y="6419304"/>
            <a:ext cx="8560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 code QR fait le pont entre le monde physique du stade et le monde numérique</a:t>
            </a:r>
            <a:endParaRPr lang="fr-CD" sz="1400" i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4BE0EA4-CBA1-5068-6201-DC023A7BF53E}"/>
              </a:ext>
            </a:extLst>
          </p:cNvPr>
          <p:cNvSpPr txBox="1"/>
          <p:nvPr/>
        </p:nvSpPr>
        <p:spPr>
          <a:xfrm>
            <a:off x="7589469" y="1398987"/>
            <a:ext cx="35869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Technologie de code QR 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Chaque billet contient une signature numérique unique permettant une validation rapide à l’entré du stade </a:t>
            </a:r>
            <a:endParaRPr lang="fr-CD" sz="2000" dirty="0">
              <a:latin typeface="Montserrat" pitchFamily="2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75BB9FD-3554-48EB-135E-E83BCD750D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1" t="10346" r="49840" b="43507"/>
          <a:stretch>
            <a:fillRect/>
          </a:stretch>
        </p:blipFill>
        <p:spPr>
          <a:xfrm>
            <a:off x="262296" y="1222508"/>
            <a:ext cx="4930323" cy="278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2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32648-ED21-2351-C923-BC9DF1D0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4EAD71FF-9685-EDB6-8E00-009D6E1FA2A0}"/>
              </a:ext>
            </a:extLst>
          </p:cNvPr>
          <p:cNvSpPr/>
          <p:nvPr/>
        </p:nvSpPr>
        <p:spPr>
          <a:xfrm>
            <a:off x="-436729" y="-13649"/>
            <a:ext cx="13074555" cy="955343"/>
          </a:xfrm>
          <a:prstGeom prst="parallelogram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D66FB4BF-D18B-0456-B0D7-3A9433CC9EE2}"/>
              </a:ext>
            </a:extLst>
          </p:cNvPr>
          <p:cNvSpPr/>
          <p:nvPr/>
        </p:nvSpPr>
        <p:spPr>
          <a:xfrm flipV="1">
            <a:off x="1528549" y="-13651"/>
            <a:ext cx="11218461" cy="955343"/>
          </a:xfrm>
          <a:prstGeom prst="parallelogram">
            <a:avLst>
              <a:gd name="adj" fmla="val 38434"/>
            </a:avLst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684600CB-68A6-EAA3-A716-C16F43FA576B}"/>
              </a:ext>
            </a:extLst>
          </p:cNvPr>
          <p:cNvSpPr/>
          <p:nvPr/>
        </p:nvSpPr>
        <p:spPr>
          <a:xfrm flipV="1">
            <a:off x="2770497" y="-16044"/>
            <a:ext cx="11450472" cy="955343"/>
          </a:xfrm>
          <a:prstGeom prst="parallelogram">
            <a:avLst>
              <a:gd name="adj" fmla="val 38434"/>
            </a:avLst>
          </a:prstGeom>
          <a:gradFill flip="none" rotWithShape="1">
            <a:gsLst>
              <a:gs pos="20000">
                <a:srgbClr val="006666"/>
              </a:gs>
              <a:gs pos="100000">
                <a:srgbClr val="20B2AA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D1BDB-796D-1AE2-8826-27DE86FAE012}"/>
              </a:ext>
            </a:extLst>
          </p:cNvPr>
          <p:cNvSpPr/>
          <p:nvPr/>
        </p:nvSpPr>
        <p:spPr>
          <a:xfrm>
            <a:off x="-1347537" y="-13651"/>
            <a:ext cx="1308985" cy="6871651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0BE774-6CB0-B4B7-F54F-F4AF67198A5F}"/>
              </a:ext>
            </a:extLst>
          </p:cNvPr>
          <p:cNvSpPr/>
          <p:nvPr/>
        </p:nvSpPr>
        <p:spPr>
          <a:xfrm>
            <a:off x="0" y="6288505"/>
            <a:ext cx="12192000" cy="5855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6633981B-A6F7-0181-FB56-24CC73EEA87E}"/>
              </a:ext>
            </a:extLst>
          </p:cNvPr>
          <p:cNvSpPr/>
          <p:nvPr/>
        </p:nvSpPr>
        <p:spPr>
          <a:xfrm flipV="1">
            <a:off x="8341895" y="6270067"/>
            <a:ext cx="4764505" cy="603972"/>
          </a:xfrm>
          <a:prstGeom prst="parallelogram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7EBC2-3933-1719-36CE-CB812B807BFE}"/>
              </a:ext>
            </a:extLst>
          </p:cNvPr>
          <p:cNvSpPr/>
          <p:nvPr/>
        </p:nvSpPr>
        <p:spPr>
          <a:xfrm>
            <a:off x="12192000" y="-182093"/>
            <a:ext cx="2122111" cy="7056132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D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D76ADC9-35E3-F603-1B16-3CA4DA2C8CFD}"/>
              </a:ext>
            </a:extLst>
          </p:cNvPr>
          <p:cNvSpPr txBox="1"/>
          <p:nvPr/>
        </p:nvSpPr>
        <p:spPr>
          <a:xfrm>
            <a:off x="5192619" y="102858"/>
            <a:ext cx="6112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Montserrat" pitchFamily="2" charset="0"/>
              </a:rPr>
              <a:t>Conclusion et Perspectives d’Evolution</a:t>
            </a:r>
            <a:endParaRPr lang="fr-CD" sz="2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23F2DA2-FE68-FAD7-E52B-4D5702A3C3B9}"/>
              </a:ext>
            </a:extLst>
          </p:cNvPr>
          <p:cNvSpPr txBox="1"/>
          <p:nvPr/>
        </p:nvSpPr>
        <p:spPr>
          <a:xfrm>
            <a:off x="474442" y="1459832"/>
            <a:ext cx="48996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Esprit de D’Equipe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Réussite d’un développement collaboratif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0DEC33-C1BA-1F4C-837A-1C0313E7ACF3}"/>
              </a:ext>
            </a:extLst>
          </p:cNvPr>
          <p:cNvSpPr txBox="1"/>
          <p:nvPr/>
        </p:nvSpPr>
        <p:spPr>
          <a:xfrm>
            <a:off x="7534287" y="3389787"/>
            <a:ext cx="35869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API réelle 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Intégration officielle des passerelles de paiement (Airtel Money, …)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BC70640-AE7C-629E-BD07-6BE80596EF88}"/>
              </a:ext>
            </a:extLst>
          </p:cNvPr>
          <p:cNvSpPr txBox="1"/>
          <p:nvPr/>
        </p:nvSpPr>
        <p:spPr>
          <a:xfrm>
            <a:off x="538369" y="3187105"/>
            <a:ext cx="4064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Module Administrateur</a:t>
            </a:r>
          </a:p>
          <a:p>
            <a:pPr algn="ctr"/>
            <a:endParaRPr lang="fr-FR" sz="2000" dirty="0">
              <a:latin typeface="Montserrat" pitchFamily="2" charset="0"/>
              <a:ea typeface="Roboto" panose="02000000000000000000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  <a:ea typeface="Roboto" panose="02000000000000000000" pitchFamily="2" charset="0"/>
              </a:rPr>
              <a:t>Création d’un tableau de bord Statistique </a:t>
            </a:r>
            <a:endParaRPr lang="fr-CD" sz="2000" dirty="0">
              <a:latin typeface="Montserrat" pitchFamily="2" charset="0"/>
              <a:ea typeface="Roboto" panose="020000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F4ED992-4D9D-FEB6-B0A4-2305A1986990}"/>
              </a:ext>
            </a:extLst>
          </p:cNvPr>
          <p:cNvSpPr txBox="1"/>
          <p:nvPr/>
        </p:nvSpPr>
        <p:spPr>
          <a:xfrm>
            <a:off x="8635089" y="6457782"/>
            <a:ext cx="351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  <a:latin typeface="Montserrat" pitchFamily="2" charset="0"/>
              </a:rPr>
              <a:t>Digitalisation de la billetterie </a:t>
            </a:r>
            <a:endParaRPr lang="fr-CD" sz="1600" i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DA77A90-0DDF-1D06-217D-D446F5C70F64}"/>
              </a:ext>
            </a:extLst>
          </p:cNvPr>
          <p:cNvSpPr txBox="1"/>
          <p:nvPr/>
        </p:nvSpPr>
        <p:spPr>
          <a:xfrm>
            <a:off x="7589469" y="1398987"/>
            <a:ext cx="3586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</a:rPr>
              <a:t>Application Mobile Native </a:t>
            </a:r>
          </a:p>
          <a:p>
            <a:pPr algn="ctr"/>
            <a:endParaRPr lang="fr-FR" sz="2000" dirty="0">
              <a:latin typeface="Montserrat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</a:rPr>
              <a:t>Développement d’une version Android/IOS pour une meilleure accessibilité</a:t>
            </a:r>
            <a:endParaRPr lang="fr-CD" sz="2000" dirty="0">
              <a:latin typeface="Montserrat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878171F-53B4-294B-7C24-1A95B6870057}"/>
              </a:ext>
            </a:extLst>
          </p:cNvPr>
          <p:cNvSpPr txBox="1"/>
          <p:nvPr/>
        </p:nvSpPr>
        <p:spPr>
          <a:xfrm>
            <a:off x="412491" y="4662944"/>
            <a:ext cx="40641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Montserrat" pitchFamily="2" charset="0"/>
                <a:ea typeface="Roboto" panose="02000000000000000000" pitchFamily="2" charset="0"/>
              </a:rPr>
              <a:t>Extension</a:t>
            </a:r>
          </a:p>
          <a:p>
            <a:pPr algn="ctr"/>
            <a:endParaRPr lang="fr-FR" sz="2000" dirty="0">
              <a:latin typeface="Montserrat" pitchFamily="2" charset="0"/>
              <a:ea typeface="Roboto" panose="02000000000000000000" pitchFamily="2" charset="0"/>
            </a:endParaRPr>
          </a:p>
          <a:p>
            <a:pPr algn="just"/>
            <a:r>
              <a:rPr lang="fr-FR" sz="2000" dirty="0">
                <a:latin typeface="Montserrat" pitchFamily="2" charset="0"/>
                <a:ea typeface="Roboto" panose="02000000000000000000" pitchFamily="2" charset="0"/>
              </a:rPr>
              <a:t>Adaptation du système pour d’autres évènements (concert, conférences,…)</a:t>
            </a:r>
            <a:endParaRPr lang="fr-CD" sz="2000" dirty="0">
              <a:latin typeface="Montserrat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28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488</Words>
  <Application>Microsoft Office PowerPoint</Application>
  <PresentationFormat>Grand écran</PresentationFormat>
  <Paragraphs>89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Montserrat</vt:lpstr>
      <vt:lpstr>Roboto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JOSPIN MWIKIZA</cp:lastModifiedBy>
  <cp:revision>5</cp:revision>
  <dcterms:created xsi:type="dcterms:W3CDTF">2013-01-27T09:14:16Z</dcterms:created>
  <dcterms:modified xsi:type="dcterms:W3CDTF">2026-04-24T05:34:40Z</dcterms:modified>
  <cp:category/>
</cp:coreProperties>
</file>